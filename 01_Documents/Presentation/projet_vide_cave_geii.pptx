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7" d="100"/>
          <a:sy n="77" d="100"/>
        </p:scale>
        <p:origin x="2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054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937760" cy="4937760"/>
          </a:xfrm>
          <a:prstGeom prst="ellipse">
            <a:avLst/>
          </a:prstGeom>
          <a:solidFill>
            <a:srgbClr val="15537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IUT GEII 2ᵉ ANNÉE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 d'un vide-cave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asynchrone monophasé 230 V — protection par mesure de courant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20040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1460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automatiquement le bon fonctionnement de la pompe. Un démarrage automatique est déclenché tous les 3 jours, pendant 1 minute maximum, avec mesure du courant moteur dès le démarrage. Le moteur est également surveillé pendant son utilisation normale.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DE DÉTECTION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233672"/>
            <a:ext cx="256032" cy="256032"/>
          </a:xfrm>
          <a:prstGeom prst="ellipse">
            <a:avLst/>
          </a:prstGeom>
          <a:solidFill>
            <a:srgbClr val="EB57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4206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 élevé  </a:t>
            </a:r>
            <a:r>
              <a:rPr lang="en-US" sz="130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protection / arrêt — moteur bloqué ou grippé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782312"/>
            <a:ext cx="256032" cy="256032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7548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 faible  </a:t>
            </a:r>
            <a:r>
              <a:rPr lang="en-US" sz="130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pompe à vide / arrêt — absence d'eau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330952"/>
            <a:ext cx="256032" cy="256032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53035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 normal  </a:t>
            </a:r>
            <a:r>
              <a:rPr lang="en-US" sz="130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fonctionnement autorisé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Chaîne de mesure et de protection du moteur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60804" y="1737360"/>
            <a:ext cx="512064" cy="512064"/>
          </a:xfrm>
          <a:prstGeom prst="ellipse">
            <a:avLst/>
          </a:prstGeom>
          <a:solidFill>
            <a:srgbClr val="0B36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60804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50976" y="2423160"/>
            <a:ext cx="2331720" cy="1783080"/>
          </a:xfrm>
          <a:prstGeom prst="roundRect">
            <a:avLst>
              <a:gd name="adj" fmla="val 3590"/>
            </a:avLst>
          </a:prstGeom>
          <a:solidFill>
            <a:srgbClr val="F3F6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" y="26060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V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3375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Pompe du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vide-cave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3154680"/>
            <a:ext cx="265176" cy="292608"/>
          </a:xfrm>
          <a:prstGeom prst="rightArrow">
            <a:avLst/>
          </a:prstGeom>
          <a:solidFill>
            <a:srgbClr val="F2994A"/>
          </a:solidFill>
          <a:ln/>
        </p:spPr>
      </p:sp>
      <p:sp>
        <p:nvSpPr>
          <p:cNvPr id="10" name="Shape 8"/>
          <p:cNvSpPr/>
          <p:nvPr/>
        </p:nvSpPr>
        <p:spPr>
          <a:xfrm>
            <a:off x="4512564" y="1737360"/>
            <a:ext cx="512064" cy="512064"/>
          </a:xfrm>
          <a:prstGeom prst="ellipse">
            <a:avLst/>
          </a:prstGeom>
          <a:solidFill>
            <a:srgbClr val="0B36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12564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02736" y="2423160"/>
            <a:ext cx="2331720" cy="1783080"/>
          </a:xfrm>
          <a:prstGeom prst="roundRect">
            <a:avLst>
              <a:gd name="adj" fmla="val 3590"/>
            </a:avLst>
          </a:prstGeom>
          <a:solidFill>
            <a:srgbClr val="F3F6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39896" y="26060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39896" y="33375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en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61888" y="3154680"/>
            <a:ext cx="265176" cy="292608"/>
          </a:xfrm>
          <a:prstGeom prst="rightArrow">
            <a:avLst/>
          </a:prstGeom>
          <a:solidFill>
            <a:srgbClr val="F299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164324" y="1737360"/>
            <a:ext cx="512064" cy="512064"/>
          </a:xfrm>
          <a:prstGeom prst="ellipse">
            <a:avLst/>
          </a:prstGeom>
          <a:solidFill>
            <a:srgbClr val="0B36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64324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54496" y="2423160"/>
            <a:ext cx="2331720" cy="1783080"/>
          </a:xfrm>
          <a:prstGeom prst="roundRect">
            <a:avLst>
              <a:gd name="adj" fmla="val 3590"/>
            </a:avLst>
          </a:prstGeom>
          <a:solidFill>
            <a:srgbClr val="F3F6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91656" y="26060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0B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Microcontroleur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logique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33375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niveau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courant mesuré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13648" y="3154680"/>
            <a:ext cx="265176" cy="292608"/>
          </a:xfrm>
          <a:prstGeom prst="rightArrow">
            <a:avLst/>
          </a:prstGeom>
          <a:solidFill>
            <a:srgbClr val="F2994A"/>
          </a:solidFill>
          <a:ln/>
        </p:spPr>
      </p:sp>
      <p:sp>
        <p:nvSpPr>
          <p:cNvPr id="22" name="Shape 20"/>
          <p:cNvSpPr/>
          <p:nvPr/>
        </p:nvSpPr>
        <p:spPr>
          <a:xfrm>
            <a:off x="9816084" y="1737360"/>
            <a:ext cx="512064" cy="512064"/>
          </a:xfrm>
          <a:prstGeom prst="ellipse">
            <a:avLst/>
          </a:prstGeom>
          <a:solidFill>
            <a:srgbClr val="0B36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16084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906256" y="2423160"/>
            <a:ext cx="2331720" cy="1783080"/>
          </a:xfrm>
          <a:prstGeom prst="roundRect">
            <a:avLst>
              <a:gd name="adj" fmla="val 3590"/>
            </a:avLst>
          </a:prstGeom>
          <a:solidFill>
            <a:srgbClr val="F3F6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43416" y="26060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arrêt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043416" y="33375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Autorise ou coupe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fonctionnement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526280"/>
            <a:ext cx="10908792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75488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</a:t>
            </a:r>
            <a:r>
              <a:rPr lang="en-US" sz="135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350" dirty="0" err="1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micrcontroleur</a:t>
            </a:r>
            <a:r>
              <a:rPr lang="en-US" sz="135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compare en continu le courant mesuré à des seuils de référence. Un courant trop élevé signale un moteur bloqué et déclenche l'arrêt de protection ; un courant trop faible signale un fonctionnement à vide ; un courant normal autorise la poursuite du fonctionnement.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IUT GEII 2ᵉ année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&amp; COMMUNICATION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Supervision, affichage et communication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mêlant mesure, automatisme, programmation, IHM et réseaux.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3F6FA"/>
          </a:solidFill>
          <a:ln/>
          <a:effectLst>
            <a:outerShdw blurRad="762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— informations utilisateur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: ARRÊT / DÉMARRAGE / FONCTIONNEMENT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 instantané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fonctionnement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démarrages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du dernier test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 : surintensité ou courant insuffisant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3F6FA"/>
          </a:solidFill>
          <a:ln/>
          <a:effectLst>
            <a:outerShdw blurRad="762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21031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B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</a:t>
            </a:r>
            <a:r>
              <a:rPr lang="en-US" sz="1500" b="1" dirty="0">
                <a:solidFill>
                  <a:srgbClr val="0B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Wi-Fi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65176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connecté à un serveur</a:t>
            </a:r>
            <a:endParaRPr lang="en-US" sz="1250" dirty="0"/>
          </a:p>
          <a:p>
            <a:pPr marL="177800" indent="-1778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démarrages et des défauts</a:t>
            </a:r>
            <a:endParaRPr lang="en-US" sz="1250" dirty="0"/>
          </a:p>
          <a:p>
            <a:pPr marL="177800" indent="-1778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de courant et de temps de fonctionnement</a:t>
            </a:r>
            <a:endParaRPr lang="en-US" sz="1250" dirty="0"/>
          </a:p>
          <a:p>
            <a:pPr marL="177800" indent="-1778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9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des données à distance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0B365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5285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GEII mobilisées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Électronique  •  Mesure  •  Automatisme  •  Programmation  •  IHM  •  Réseaux/Wi-Fi  •  Traitement des données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292</Words>
  <Application>Microsoft Office PowerPoint</Application>
  <PresentationFormat>Grand écran</PresentationFormat>
  <Paragraphs>52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laurent.morel</cp:lastModifiedBy>
  <cp:revision>2</cp:revision>
  <dcterms:created xsi:type="dcterms:W3CDTF">2026-09-06T13:05:51Z</dcterms:created>
  <dcterms:modified xsi:type="dcterms:W3CDTF">2026-09-06T13:13:32Z</dcterms:modified>
</cp:coreProperties>
</file>